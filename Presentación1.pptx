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33"/>
  </p:normalViewPr>
  <p:slideViewPr>
    <p:cSldViewPr snapToGrid="0">
      <p:cViewPr>
        <p:scale>
          <a:sx n="92" d="100"/>
          <a:sy n="92" d="100"/>
        </p:scale>
        <p:origin x="14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F7040-69D7-224D-A5C8-5B7BEEA86922}" type="datetimeFigureOut">
              <a:rPr lang="es-NI" smtClean="0"/>
              <a:t>18/10/25</a:t>
            </a:fld>
            <a:endParaRPr lang="es-NI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NI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8A5F5-A161-C744-BF27-E59DDECEE20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345831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NI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8A5F5-A161-C744-BF27-E59DDECEE20F}" type="slidenum">
              <a:rPr lang="es-NI" smtClean="0"/>
              <a:t>1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68634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9ED63D-14C2-021B-24B8-A6B97FE72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2B5EC4-2F39-3A9B-2197-A0B6E1845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F5E7CB-DD91-9829-4942-C9CC8B049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5ABA-5A15-394A-9692-2A8B3B36B63B}" type="datetimeFigureOut">
              <a:rPr lang="es-NI" smtClean="0"/>
              <a:t>18/10/25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02FF2C-06E3-CA89-9D8C-7F4272D1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C020DD-BDED-5AED-709C-0221EA2B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6D7-846E-C94F-BD44-73DB83D7095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35480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44956E-F746-ADCC-5AAF-43E1AFEC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7E9415-21A8-92C9-06C0-D72CCD270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EC7C04-9350-772D-B68F-8796B642C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5ABA-5A15-394A-9692-2A8B3B36B63B}" type="datetimeFigureOut">
              <a:rPr lang="es-NI" smtClean="0"/>
              <a:t>18/10/25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95DF6-D9F7-87F9-7D2B-5244119FB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61FA8A-CECF-F444-C761-A3C7B39F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6D7-846E-C94F-BD44-73DB83D7095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4312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8B8A6-7D0D-B71C-3ECF-429F9B1E5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A657AA-8CF0-02EE-6A48-ADD9D894D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A6EAED-099E-F4BF-4E75-9A1C184BC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5ABA-5A15-394A-9692-2A8B3B36B63B}" type="datetimeFigureOut">
              <a:rPr lang="es-NI" smtClean="0"/>
              <a:t>18/10/25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059A19-4FA3-2174-A4F1-2A69AD4D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DBD123-993B-58D6-C2CC-CC31C8D99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6D7-846E-C94F-BD44-73DB83D7095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93077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5F5C3-B619-4AC0-A610-7F1A804D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1FF7AC-DD56-4786-91BA-F4D1175D0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A0F284-2EBA-EBAA-2E0D-AA32047EA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9931DF-778B-8B84-FC1B-41E86ABFD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5ABA-5A15-394A-9692-2A8B3B36B63B}" type="datetimeFigureOut">
              <a:rPr lang="es-NI" smtClean="0"/>
              <a:t>18/10/25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F3AB03-8B4A-CA15-78C1-101ABA5C7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2B1B41-A51D-A7E6-A9E6-E3C1F1560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6D7-846E-C94F-BD44-73DB83D7095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86162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3CFBF-49E1-CA80-9B9F-3228DBFE4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918B9E-29E2-AC9D-589C-909AB22B5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D6C82C4-47FB-E20F-2B77-687A168D4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8D07A90-0E7A-ECA6-AE37-CA0AD1036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6519D14-6468-34FC-690C-B7258E134E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D3697DE-1410-F912-0459-B959AE0AA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5ABA-5A15-394A-9692-2A8B3B36B63B}" type="datetimeFigureOut">
              <a:rPr lang="es-NI" smtClean="0"/>
              <a:t>18/10/25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B572D2-E5D4-2C15-7C32-D5EBB1D6C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04F0080-C9AC-053D-505B-60603B72C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6D7-846E-C94F-BD44-73DB83D7095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1378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A06DDE-46E1-8730-3C9E-4AF41F57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FBF26E-0862-1C26-EE9D-F109A48B0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5ABA-5A15-394A-9692-2A8B3B36B63B}" type="datetimeFigureOut">
              <a:rPr lang="es-NI" smtClean="0"/>
              <a:t>18/10/25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192D9E6-7743-E5E8-9BC4-C1B13C52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AA2AC46-8526-57AA-D6DF-CB6C1C68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6D7-846E-C94F-BD44-73DB83D7095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099311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7DEFE69-B262-E3DB-7CB0-98A6D2BB4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5ABA-5A15-394A-9692-2A8B3B36B63B}" type="datetimeFigureOut">
              <a:rPr lang="es-NI" smtClean="0"/>
              <a:t>18/10/25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1BFB439-05D2-C879-3918-11C1E9A9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A6222D-96BE-E481-DEB0-94369ADAB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6D7-846E-C94F-BD44-73DB83D7095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515039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D699F-7460-082E-8984-7CFC65EE5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A61C2C-4AB3-3EFE-1FCD-9A5277402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BCC369-03FC-CDED-18EF-7DA5D5FE8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AA6A72-4A15-8088-F94F-611583981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5ABA-5A15-394A-9692-2A8B3B36B63B}" type="datetimeFigureOut">
              <a:rPr lang="es-NI" smtClean="0"/>
              <a:t>18/10/25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63D278-5157-BC2E-66C2-06A20D29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7D1E02-014E-3541-B253-3A47CAB80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6D7-846E-C94F-BD44-73DB83D7095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79952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918850-313D-68FC-4289-236B8B74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A07F75F-4B53-8E20-2857-6CDD81FD6D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79E662-94B2-260B-4D29-E00295465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626476-6B71-1F67-79B6-B89BF2EA8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5ABA-5A15-394A-9692-2A8B3B36B63B}" type="datetimeFigureOut">
              <a:rPr lang="es-NI" smtClean="0"/>
              <a:t>18/10/25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5637DA-A40A-4350-4C0A-3D4335358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390A46-F0BF-678E-11BD-0653F23EE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6D7-846E-C94F-BD44-73DB83D7095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14279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3F585-83CF-9A5A-2F83-5B6925D2A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F40452-DF5C-15F2-E23D-AFB8BCBB1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1BC6F4-9B9D-7CE7-724A-1176B7056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5ABA-5A15-394A-9692-2A8B3B36B63B}" type="datetimeFigureOut">
              <a:rPr lang="es-NI" smtClean="0"/>
              <a:t>18/10/25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B3F4DD-E31B-F5E4-D63D-39990C22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C2EF11-82AC-C69B-2A1C-7944A21A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6D7-846E-C94F-BD44-73DB83D7095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723803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EB414D0-FF14-9427-5B9C-22E9B685E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770933-D544-2955-C06C-AFA9A8D87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FF851C-063D-534C-512C-E66830D3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5ABA-5A15-394A-9692-2A8B3B36B63B}" type="datetimeFigureOut">
              <a:rPr lang="es-NI" smtClean="0"/>
              <a:t>18/10/25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D0F1D3-8CE1-A0B0-EDFF-F8EBBEB3E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501D28-32C3-E374-A5BD-4C829D064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16D7-846E-C94F-BD44-73DB83D7095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8580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8CDCD32-5DC2-349B-D4C6-0CA0FC40E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F04E29-AA73-87C3-FD60-8F331FFCA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9548A2-A97C-02FE-3371-3DD050EA2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25ABA-5A15-394A-9692-2A8B3B36B63B}" type="datetimeFigureOut">
              <a:rPr lang="es-NI" smtClean="0"/>
              <a:t>18/10/25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ECDD76-C0F9-3DEA-D980-6D5AAA59A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1B2B56-AB05-5ADC-2CD0-BCE32A327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816D7-846E-C94F-BD44-73DB83D7095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9365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4DBA75C1-FCFF-7965-4835-63B34E582ADC}"/>
              </a:ext>
            </a:extLst>
          </p:cNvPr>
          <p:cNvSpPr txBox="1"/>
          <p:nvPr/>
        </p:nvSpPr>
        <p:spPr>
          <a:xfrm>
            <a:off x="3348112" y="182880"/>
            <a:ext cx="503623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buNone/>
            </a:pPr>
            <a:r>
              <a:rPr lang="es-NI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CENTRO UNIVERSITARIO REGIONAL DE CHONTALES</a:t>
            </a:r>
            <a:endParaRPr lang="es-NI" sz="2000" b="0" i="0" u="none" strike="noStrike" dirty="0">
              <a:solidFill>
                <a:srgbClr val="000000"/>
              </a:solidFill>
              <a:effectLst/>
            </a:endParaRPr>
          </a:p>
          <a:p>
            <a:pPr algn="ctr" rtl="0">
              <a:buNone/>
            </a:pPr>
            <a:r>
              <a:rPr lang="es-NI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“Cornelio Silvio Argüello”</a:t>
            </a:r>
            <a:endParaRPr lang="es-NI" sz="2000" b="0" i="0" u="none" strike="noStrike" dirty="0">
              <a:solidFill>
                <a:srgbClr val="000000"/>
              </a:solidFill>
              <a:effectLst/>
            </a:endParaRPr>
          </a:p>
          <a:p>
            <a:pPr algn="ctr" rtl="0">
              <a:buNone/>
            </a:pPr>
            <a:r>
              <a:rPr lang="es-NI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UNAN Managua / CUR-Chontales</a:t>
            </a:r>
            <a:endParaRPr lang="es-NI" sz="2000" b="0" i="0" u="none" strike="noStrike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br>
              <a:rPr lang="es-NI" sz="2400" dirty="0"/>
            </a:br>
            <a:br>
              <a:rPr lang="es-NI" sz="2400" dirty="0"/>
            </a:br>
            <a:endParaRPr lang="es-NI" sz="2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7C7ACC1-24F1-B32C-0DCC-53D3F9B3C15D}"/>
              </a:ext>
            </a:extLst>
          </p:cNvPr>
          <p:cNvSpPr txBox="1"/>
          <p:nvPr/>
        </p:nvSpPr>
        <p:spPr>
          <a:xfrm>
            <a:off x="2013531" y="1697852"/>
            <a:ext cx="772131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>
              <a:buNone/>
            </a:pPr>
            <a:r>
              <a:rPr lang="es-NI" sz="1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“</a:t>
            </a:r>
            <a:r>
              <a:rPr lang="es-NI" sz="20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2025: Eficiencia y Calidad para seguir en Victorias”</a:t>
            </a:r>
            <a:endParaRPr lang="es-NI" sz="2000" b="0" i="0" u="none" strike="noStrike" dirty="0">
              <a:solidFill>
                <a:srgbClr val="000000"/>
              </a:solidFill>
              <a:effectLst/>
            </a:endParaRPr>
          </a:p>
          <a:p>
            <a:pPr algn="ctr" rtl="0">
              <a:buNone/>
            </a:pPr>
            <a:br>
              <a:rPr lang="es-NI" sz="2000" b="0" i="0" u="none" strike="noStrike" dirty="0">
                <a:solidFill>
                  <a:srgbClr val="000000"/>
                </a:solidFill>
                <a:effectLst/>
              </a:rPr>
            </a:br>
            <a:r>
              <a:rPr lang="es-NI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DEPARTAMENTO DE CIENCIAS TECNOLÓGICAS Y SALUD</a:t>
            </a:r>
            <a:endParaRPr lang="es-NI" sz="2000" b="0" i="0" u="none" strike="noStrike" dirty="0">
              <a:solidFill>
                <a:srgbClr val="000000"/>
              </a:solidFill>
              <a:effectLst/>
            </a:endParaRPr>
          </a:p>
          <a:p>
            <a:pPr algn="ctr" rtl="0">
              <a:buNone/>
            </a:pPr>
            <a:r>
              <a:rPr lang="es-NI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INGENIERÍA EN SISTEMAS DE INFORMACIÓN</a:t>
            </a:r>
            <a:endParaRPr lang="es-NI" sz="2000" b="0" i="0" u="none" strike="noStrike" dirty="0">
              <a:solidFill>
                <a:srgbClr val="000000"/>
              </a:solidFill>
              <a:effectLst/>
            </a:endParaRPr>
          </a:p>
          <a:p>
            <a:pPr algn="ctr" rtl="0">
              <a:buNone/>
            </a:pPr>
            <a:r>
              <a:rPr lang="es-NI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II SEMESTRE, I AÑO (Grupo A)</a:t>
            </a:r>
            <a:endParaRPr lang="es-NI" sz="2000" b="0" i="0" u="none" strike="noStrike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br>
              <a:rPr lang="es-NI" dirty="0"/>
            </a:br>
            <a:br>
              <a:rPr lang="es-NI" dirty="0"/>
            </a:br>
            <a:endParaRPr lang="es-NI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F8F2EED-B712-FF93-9718-5CE3308C47A4}"/>
              </a:ext>
            </a:extLst>
          </p:cNvPr>
          <p:cNvSpPr txBox="1"/>
          <p:nvPr/>
        </p:nvSpPr>
        <p:spPr>
          <a:xfrm>
            <a:off x="1519310" y="3349148"/>
            <a:ext cx="91757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NI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Grupo: 3</a:t>
            </a:r>
            <a:endParaRPr lang="es-NI" sz="2000" dirty="0">
              <a:solidFill>
                <a:srgbClr val="000000"/>
              </a:solidFill>
            </a:endParaRPr>
          </a:p>
          <a:p>
            <a:pPr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NI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“Desarrollo de un sistema de escritorio para la gestión de servicios del Taller mecánico Jerad Obregón.”</a:t>
            </a:r>
            <a:endParaRPr lang="es-NI" sz="2000" b="0" i="0" u="none" strike="noStrike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br>
              <a:rPr lang="es-NI" dirty="0"/>
            </a:br>
            <a:br>
              <a:rPr lang="es-NI" dirty="0"/>
            </a:br>
            <a:endParaRPr lang="es-NI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18AB478-195C-9D6A-88A0-2774450F3EE6}"/>
              </a:ext>
            </a:extLst>
          </p:cNvPr>
          <p:cNvSpPr txBox="1"/>
          <p:nvPr/>
        </p:nvSpPr>
        <p:spPr>
          <a:xfrm>
            <a:off x="-1025135" y="4584372"/>
            <a:ext cx="71323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buNone/>
            </a:pPr>
            <a:r>
              <a:rPr lang="es-NI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INTEGRANTES</a:t>
            </a:r>
            <a:endParaRPr lang="es-NI" b="0" i="0" u="none" strike="noStrike" dirty="0">
              <a:solidFill>
                <a:srgbClr val="000000"/>
              </a:solidFill>
              <a:effectLst/>
            </a:endParaRPr>
          </a:p>
          <a:p>
            <a:pPr algn="ctr" rtl="0" fontAlgn="base">
              <a:buFont typeface="Arial" panose="020B0604020202020204" pitchFamily="34" charset="0"/>
              <a:buChar char="•"/>
            </a:pPr>
            <a:r>
              <a:rPr lang="es-NI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Jhon Kenneth Fonseca Pineda</a:t>
            </a:r>
          </a:p>
          <a:p>
            <a:pPr algn="ctr" rtl="0" fontAlgn="base">
              <a:buFont typeface="Arial" panose="020B0604020202020204" pitchFamily="34" charset="0"/>
              <a:buChar char="•"/>
            </a:pPr>
            <a:r>
              <a:rPr lang="es-NI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Dhiosmer José Cuadra Miranda</a:t>
            </a:r>
          </a:p>
          <a:p>
            <a:pPr algn="ctr" rtl="0" fontAlgn="base">
              <a:buFont typeface="Arial" panose="020B0604020202020204" pitchFamily="34" charset="0"/>
              <a:buChar char="•"/>
            </a:pPr>
            <a:r>
              <a:rPr lang="es-NI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Soraya Lidieth Calero Calero</a:t>
            </a:r>
          </a:p>
          <a:p>
            <a:pPr algn="ctr" rtl="0" fontAlgn="base">
              <a:buFont typeface="Arial" panose="020B0604020202020204" pitchFamily="34" charset="0"/>
              <a:buChar char="•"/>
            </a:pPr>
            <a:r>
              <a:rPr lang="es-NI" sz="1800" b="0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Anthony Steff Galvez Amador</a:t>
            </a:r>
          </a:p>
          <a:p>
            <a:pPr algn="ctr" rtl="0" fontAlgn="base">
              <a:buFont typeface="Arial" panose="020B0604020202020204" pitchFamily="34" charset="0"/>
              <a:buChar char="•"/>
            </a:pPr>
            <a:r>
              <a:rPr lang="es-NI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Anderson Johan González Torrez</a:t>
            </a:r>
          </a:p>
          <a:p>
            <a:pPr algn="ctr" rtl="0">
              <a:buNone/>
            </a:pPr>
            <a:br>
              <a:rPr lang="es-NI" b="0" i="0" u="none" strike="noStrike" dirty="0">
                <a:solidFill>
                  <a:srgbClr val="000000"/>
                </a:solidFill>
                <a:effectLst/>
              </a:rPr>
            </a:br>
            <a:br>
              <a:rPr lang="es-NI" dirty="0"/>
            </a:br>
            <a:endParaRPr lang="es-NI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35EFE9-BB2C-0A37-5E22-A71927E101AD}"/>
              </a:ext>
            </a:extLst>
          </p:cNvPr>
          <p:cNvSpPr txBox="1"/>
          <p:nvPr/>
        </p:nvSpPr>
        <p:spPr>
          <a:xfrm>
            <a:off x="7540283" y="4318780"/>
            <a:ext cx="3648997" cy="3518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buNone/>
            </a:pPr>
            <a:r>
              <a:rPr lang="es-NI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DOCENTES</a:t>
            </a:r>
            <a:endParaRPr lang="es-NI" b="0" i="0" u="none" strike="noStrike" dirty="0">
              <a:solidFill>
                <a:srgbClr val="000000"/>
              </a:solidFill>
              <a:effectLst/>
            </a:endParaRPr>
          </a:p>
          <a:p>
            <a:pPr algn="ctr" rtl="0" fontAlgn="base">
              <a:buFont typeface="Arial" panose="020B0604020202020204" pitchFamily="34" charset="0"/>
              <a:buChar char="•"/>
            </a:pPr>
            <a:r>
              <a:rPr lang="es-NI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José Jonathan Moreno Castro </a:t>
            </a:r>
          </a:p>
          <a:p>
            <a:pPr algn="ctr" rtl="0" fontAlgn="base">
              <a:buFont typeface="Arial" panose="020B0604020202020204" pitchFamily="34" charset="0"/>
              <a:buChar char="•"/>
            </a:pPr>
            <a:r>
              <a:rPr lang="es-NI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Joel Isidro Solano Duartes</a:t>
            </a:r>
          </a:p>
          <a:p>
            <a:pPr algn="ctr" rtl="0" fontAlgn="base">
              <a:buFont typeface="Arial" panose="020B0604020202020204" pitchFamily="34" charset="0"/>
              <a:buChar char="•"/>
            </a:pPr>
            <a:r>
              <a:rPr lang="es-NI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Yesenia Sobeyba Téllez Gómez</a:t>
            </a:r>
          </a:p>
          <a:p>
            <a:pPr algn="ctr" rtl="0" fontAlgn="base">
              <a:buFont typeface="Arial" panose="020B0604020202020204" pitchFamily="34" charset="0"/>
              <a:buChar char="•"/>
            </a:pPr>
            <a:r>
              <a:rPr lang="es-NI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María Jorlenis Ríos Pérez </a:t>
            </a:r>
          </a:p>
          <a:p>
            <a:pPr algn="ctr" rtl="0" fontAlgn="base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NI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Saira María Urbina Cienfuegos </a:t>
            </a:r>
          </a:p>
          <a:p>
            <a:pPr algn="ctr" rtl="0">
              <a:buNone/>
            </a:pPr>
            <a:r>
              <a:rPr lang="es-NI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Septiembre, 2025</a:t>
            </a:r>
            <a:endParaRPr lang="es-NI" b="0" i="0" u="none" strike="noStrike" dirty="0">
              <a:solidFill>
                <a:srgbClr val="000000"/>
              </a:solidFill>
              <a:effectLst/>
            </a:endParaRPr>
          </a:p>
          <a:p>
            <a:pPr algn="ctr" rtl="0">
              <a:buNone/>
            </a:pPr>
            <a:r>
              <a:rPr lang="es-NI" sz="1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¡Universidad del Pueblo y para el Pueblo!</a:t>
            </a:r>
            <a:endParaRPr lang="es-NI" b="0" i="0" u="none" strike="noStrike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br>
              <a:rPr lang="es-NI" dirty="0"/>
            </a:br>
            <a:br>
              <a:rPr lang="es-NI" dirty="0"/>
            </a:br>
            <a:endParaRPr lang="es-NI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B28710FE-BF92-239D-E795-0C3A3FAD7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08" y="182880"/>
            <a:ext cx="3034674" cy="189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49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E0E0ABB-92C8-B205-A844-ED38D585AD59}"/>
              </a:ext>
            </a:extLst>
          </p:cNvPr>
          <p:cNvSpPr txBox="1"/>
          <p:nvPr/>
        </p:nvSpPr>
        <p:spPr>
          <a:xfrm>
            <a:off x="1420837" y="529031"/>
            <a:ext cx="4503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br>
              <a:rPr lang="es-NI" dirty="0"/>
            </a:br>
            <a:br>
              <a:rPr lang="es-NI" dirty="0"/>
            </a:br>
            <a:endParaRPr lang="es-NI" dirty="0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599258AA-5E68-1729-BF49-9CD9A58578ED}"/>
              </a:ext>
            </a:extLst>
          </p:cNvPr>
          <p:cNvSpPr/>
          <p:nvPr/>
        </p:nvSpPr>
        <p:spPr>
          <a:xfrm>
            <a:off x="171937" y="126611"/>
            <a:ext cx="4503226" cy="11535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2400" b="1" i="0" u="none" strike="noStrike" dirty="0">
                <a:solidFill>
                  <a:schemeClr val="bg2">
                    <a:lumMod val="90000"/>
                  </a:schemeClr>
                </a:solidFill>
                <a:effectLst/>
                <a:latin typeface="Times New Roman" panose="02020603050405020304" pitchFamily="18" charset="0"/>
              </a:rPr>
              <a:t>TEMA</a:t>
            </a:r>
            <a:endParaRPr lang="es-NI" sz="2400" b="1" i="0" u="none" strike="noStrike" dirty="0">
              <a:solidFill>
                <a:schemeClr val="bg2">
                  <a:lumMod val="90000"/>
                </a:schemeClr>
              </a:solidFill>
              <a:effectLst/>
            </a:endParaRPr>
          </a:p>
          <a:p>
            <a:pPr algn="ctr"/>
            <a:r>
              <a:rPr lang="es-NI" sz="2400" b="0" i="0" u="none" strike="noStrike" dirty="0">
                <a:solidFill>
                  <a:schemeClr val="bg2">
                    <a:lumMod val="90000"/>
                  </a:schemeClr>
                </a:solidFill>
                <a:effectLst/>
                <a:latin typeface="Times New Roman" panose="02020603050405020304" pitchFamily="18" charset="0"/>
              </a:rPr>
              <a:t>para el Taller mecánico Jerad Obregón</a:t>
            </a:r>
            <a:r>
              <a:rPr lang="es-NI" sz="1800" b="0" i="0" u="none" strike="noStrike" dirty="0">
                <a:solidFill>
                  <a:schemeClr val="bg2">
                    <a:lumMod val="90000"/>
                  </a:schemeClr>
                </a:solidFill>
                <a:effectLst/>
                <a:latin typeface="Times New Roman" panose="02020603050405020304" pitchFamily="18" charset="0"/>
              </a:rPr>
              <a:t>.</a:t>
            </a:r>
            <a:endParaRPr lang="es-NI" b="0" i="0" u="none" strike="noStrike" dirty="0">
              <a:solidFill>
                <a:schemeClr val="bg2">
                  <a:lumMod val="90000"/>
                </a:schemeClr>
              </a:solidFill>
              <a:effectLst/>
            </a:endParaRPr>
          </a:p>
          <a:p>
            <a:pPr algn="ctr"/>
            <a:endParaRPr lang="es-NI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EC29233-CF6A-7FA1-67DB-99F00288FC88}"/>
              </a:ext>
            </a:extLst>
          </p:cNvPr>
          <p:cNvSpPr txBox="1"/>
          <p:nvPr/>
        </p:nvSpPr>
        <p:spPr>
          <a:xfrm>
            <a:off x="332152" y="1682580"/>
            <a:ext cx="110064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 fontAlgn="base">
              <a:spcBef>
                <a:spcPts val="1200"/>
              </a:spcBef>
            </a:pPr>
            <a:r>
              <a:rPr lang="es-NI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DESCRIPCIÓN DE LA PROBLEMÁTICA </a:t>
            </a:r>
          </a:p>
          <a:p>
            <a:pPr algn="just" rtl="0">
              <a:buNone/>
            </a:pPr>
            <a:br>
              <a:rPr lang="es-NI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s-NI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El taller mecánico Jerart Obregón enfrenta serias dificultades en la gestión de sus operaciones debido a que todos sus procesos se realizan de forma manual. La información relacionada con diagnósticos, reparaciones y mantenimientos se registra únicamente en papel, lo cual genera desorden y dificulta el control adecuado de las actividades. Esta práctica tradicional no se adapta a las necesidades actuales, donde la eficiencia y la agilidad son fundamentales para brindar un servicio competitivo y confiable.</a:t>
            </a:r>
            <a:endParaRPr lang="es-NI" sz="2400" b="0" i="0" u="none" strike="noStrike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br>
              <a:rPr lang="es-NI" dirty="0"/>
            </a:br>
            <a:br>
              <a:rPr lang="es-NI" dirty="0"/>
            </a:b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198836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AAC6E0B-2850-D6C9-CCCE-89705DCFD4F1}"/>
              </a:ext>
            </a:extLst>
          </p:cNvPr>
          <p:cNvSpPr txBox="1"/>
          <p:nvPr/>
        </p:nvSpPr>
        <p:spPr>
          <a:xfrm>
            <a:off x="239150" y="182881"/>
            <a:ext cx="1091652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 fontAlgn="base">
              <a:buFont typeface="+mj-lt"/>
              <a:buAutoNum type="arabicPeriod"/>
            </a:pPr>
            <a:r>
              <a:rPr lang="es-NI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MAPEO DE SOFTWARE</a:t>
            </a:r>
          </a:p>
          <a:p>
            <a:pPr algn="just" rtl="0">
              <a:buNone/>
            </a:pPr>
            <a:r>
              <a:rPr lang="es-NI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https://app.diagrams.net/#G1UmsjFfe-UADfLj_XAnbagEoJhuAHi2jC#%7B%22pageId%</a:t>
            </a:r>
            <a:r>
              <a:rPr lang="es-NI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22%3A</a:t>
            </a:r>
            <a:r>
              <a:rPr lang="es-NI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%22aMWz0yMTf4Q0MAm5ZINb%22%7D</a:t>
            </a:r>
            <a:endParaRPr lang="es-NI" b="0" i="0" u="none" strike="noStrike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br>
              <a:rPr lang="es-NI" dirty="0"/>
            </a:br>
            <a:br>
              <a:rPr lang="es-NI" dirty="0"/>
            </a:br>
            <a:endParaRPr lang="es-NI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7F26FE4-9333-4146-4BB8-370A4FF7E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153" y="1617575"/>
            <a:ext cx="7336494" cy="478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586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936D776C-AEF0-7312-26B9-3C8342E7391E}"/>
              </a:ext>
            </a:extLst>
          </p:cNvPr>
          <p:cNvSpPr/>
          <p:nvPr/>
        </p:nvSpPr>
        <p:spPr>
          <a:xfrm>
            <a:off x="457200" y="229870"/>
            <a:ext cx="5869172" cy="9144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NI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Planificacion SCRUM / Requerimiento Funcionales 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B03EF90-8BCB-206F-68A5-4144547CA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58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altLang="es-N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803E4490-4581-B261-56BC-6D02E9130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371" y="1624171"/>
            <a:ext cx="12437219" cy="599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altLang="es-N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5591FB78-B33B-FAEB-193D-2E648F3A3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879397"/>
              </p:ext>
            </p:extLst>
          </p:nvPr>
        </p:nvGraphicFramePr>
        <p:xfrm>
          <a:off x="1204312" y="1784350"/>
          <a:ext cx="3909049" cy="4433193"/>
        </p:xfrm>
        <a:graphic>
          <a:graphicData uri="http://schemas.openxmlformats.org/drawingml/2006/table">
            <a:tbl>
              <a:tblPr/>
              <a:tblGrid>
                <a:gridCol w="656928">
                  <a:extLst>
                    <a:ext uri="{9D8B030D-6E8A-4147-A177-3AD203B41FA5}">
                      <a16:colId xmlns:a16="http://schemas.microsoft.com/office/drawing/2014/main" val="2904407809"/>
                    </a:ext>
                  </a:extLst>
                </a:gridCol>
                <a:gridCol w="1587035">
                  <a:extLst>
                    <a:ext uri="{9D8B030D-6E8A-4147-A177-3AD203B41FA5}">
                      <a16:colId xmlns:a16="http://schemas.microsoft.com/office/drawing/2014/main" val="2199698795"/>
                    </a:ext>
                  </a:extLst>
                </a:gridCol>
                <a:gridCol w="1665086">
                  <a:extLst>
                    <a:ext uri="{9D8B030D-6E8A-4147-A177-3AD203B41FA5}">
                      <a16:colId xmlns:a16="http://schemas.microsoft.com/office/drawing/2014/main" val="1329934236"/>
                    </a:ext>
                  </a:extLst>
                </a:gridCol>
              </a:tblGrid>
              <a:tr h="187322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Rol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Nombres y apellidos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Funciones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56286"/>
                  </a:ext>
                </a:extLst>
              </a:tr>
              <a:tr h="72197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 Owner</a:t>
                      </a:r>
                      <a:endParaRPr lang="es-NI" sz="1200">
                        <a:effectLst/>
                      </a:endParaRPr>
                    </a:p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(Propietario del producto)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Antony Amador                                                                                                                                       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Realizar una encuesta  de las necesidades y la visión que se necesita para el producto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764155"/>
                  </a:ext>
                </a:extLst>
              </a:tr>
              <a:tr h="1170764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Scrum Master</a:t>
                      </a:r>
                      <a:endParaRPr lang="es-NI" sz="1200">
                        <a:effectLst/>
                      </a:endParaRPr>
                    </a:p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(Especialista de Scrum)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Jhon kenneth Fonseca Pineda</a:t>
                      </a:r>
                      <a:endParaRPr lang="es-NI" sz="1200">
                        <a:effectLst/>
                      </a:endParaRPr>
                    </a:p>
                    <a:p>
                      <a:pPr fontAlgn="t"/>
                      <a:br>
                        <a:rPr lang="es-NI" sz="1200">
                          <a:effectLst/>
                        </a:rPr>
                      </a:b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Guiar al equipo</a:t>
                      </a:r>
                      <a:endParaRPr lang="es-NI" sz="1200">
                        <a:effectLst/>
                      </a:endParaRPr>
                    </a:p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Eliminar los impedimentos que afecten al equipo</a:t>
                      </a:r>
                      <a:endParaRPr lang="es-NI" sz="1200">
                        <a:effectLst/>
                      </a:endParaRPr>
                    </a:p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Promover la comunicación y el trabajo colaborativo.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19845"/>
                  </a:ext>
                </a:extLst>
              </a:tr>
              <a:tr h="708962">
                <a:tc rowSpan="3"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Development team</a:t>
                      </a:r>
                      <a:endParaRPr lang="es-NI" sz="1200">
                        <a:effectLst/>
                      </a:endParaRPr>
                    </a:p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(Equipo de desarrollo)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Dhiosmer Jose Cuadra Miranda</a:t>
                      </a:r>
                      <a:endParaRPr lang="es-NI" sz="1200">
                        <a:effectLst/>
                      </a:endParaRPr>
                    </a:p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Froneg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Diseñar e implementar el sistema de escritorio.</a:t>
                      </a:r>
                      <a:endParaRPr lang="es-NI" sz="1200">
                        <a:effectLst/>
                      </a:endParaRPr>
                    </a:p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892205"/>
                  </a:ext>
                </a:extLst>
              </a:tr>
              <a:tr h="604894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Soraya Calero</a:t>
                      </a:r>
                      <a:endParaRPr lang="es-NI" sz="1200">
                        <a:effectLst/>
                      </a:endParaRPr>
                    </a:p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Froneg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Desarrollar interfaz(Registro del cliente Registrar los vehículos,Reportes)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228253"/>
                  </a:ext>
                </a:extLst>
              </a:tr>
              <a:tr h="416271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Anderson Johan</a:t>
                      </a:r>
                      <a:endParaRPr lang="es-NI" sz="1200">
                        <a:effectLst/>
                      </a:endParaRPr>
                    </a:p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Froneg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Realizar pruebas del sistema y corregir errores.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076261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Stakeholders</a:t>
                      </a:r>
                      <a:endParaRPr lang="es-NI" sz="1200">
                        <a:effectLst/>
                      </a:endParaRPr>
                    </a:p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(Partes interesadas)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Juan</a:t>
                      </a:r>
                      <a:endParaRPr lang="es-NI" sz="120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800" b="0" i="0" u="none" strike="noStrike" dirty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Cliente final que recibe el producto </a:t>
                      </a:r>
                      <a:endParaRPr lang="es-NI" sz="1200" dirty="0">
                        <a:effectLst/>
                      </a:endParaRPr>
                    </a:p>
                  </a:txBody>
                  <a:tcPr marL="43362" marR="43362" marT="31220" marB="3122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7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7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585847"/>
                  </a:ext>
                </a:extLst>
              </a:tr>
            </a:tbl>
          </a:graphicData>
        </a:graphic>
      </p:graphicFrame>
      <p:sp>
        <p:nvSpPr>
          <p:cNvPr id="18" name="Rectangle 5">
            <a:extLst>
              <a:ext uri="{FF2B5EF4-FFF2-40B4-BE49-F238E27FC236}">
                <a16:creationId xmlns:a16="http://schemas.microsoft.com/office/drawing/2014/main" id="{A3F56DB9-63EB-8020-19B2-FB135CE30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788" y="17843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53216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77770406-65C5-AD3C-7C5D-8B471675D6FE}"/>
              </a:ext>
            </a:extLst>
          </p:cNvPr>
          <p:cNvSpPr/>
          <p:nvPr/>
        </p:nvSpPr>
        <p:spPr>
          <a:xfrm>
            <a:off x="387926" y="207819"/>
            <a:ext cx="4128656" cy="914399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NI" dirty="0"/>
              <a:t>Historia de usuario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3C8BE15-1E1E-BECB-ABA3-B407415652DF}"/>
              </a:ext>
            </a:extLst>
          </p:cNvPr>
          <p:cNvSpPr txBox="1"/>
          <p:nvPr/>
        </p:nvSpPr>
        <p:spPr>
          <a:xfrm>
            <a:off x="7536873" y="25769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NI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B7DACCCA-A014-5210-AA3D-B59034AD9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41258"/>
              </p:ext>
            </p:extLst>
          </p:nvPr>
        </p:nvGraphicFramePr>
        <p:xfrm>
          <a:off x="6279865" y="1390412"/>
          <a:ext cx="5538061" cy="2932207"/>
        </p:xfrm>
        <a:graphic>
          <a:graphicData uri="http://schemas.openxmlformats.org/drawingml/2006/table">
            <a:tbl>
              <a:tblPr/>
              <a:tblGrid>
                <a:gridCol w="1606899">
                  <a:extLst>
                    <a:ext uri="{9D8B030D-6E8A-4147-A177-3AD203B41FA5}">
                      <a16:colId xmlns:a16="http://schemas.microsoft.com/office/drawing/2014/main" val="787154075"/>
                    </a:ext>
                  </a:extLst>
                </a:gridCol>
                <a:gridCol w="2037318">
                  <a:extLst>
                    <a:ext uri="{9D8B030D-6E8A-4147-A177-3AD203B41FA5}">
                      <a16:colId xmlns:a16="http://schemas.microsoft.com/office/drawing/2014/main" val="2956944149"/>
                    </a:ext>
                  </a:extLst>
                </a:gridCol>
                <a:gridCol w="1013876">
                  <a:extLst>
                    <a:ext uri="{9D8B030D-6E8A-4147-A177-3AD203B41FA5}">
                      <a16:colId xmlns:a16="http://schemas.microsoft.com/office/drawing/2014/main" val="872964552"/>
                    </a:ext>
                  </a:extLst>
                </a:gridCol>
                <a:gridCol w="879968">
                  <a:extLst>
                    <a:ext uri="{9D8B030D-6E8A-4147-A177-3AD203B41FA5}">
                      <a16:colId xmlns:a16="http://schemas.microsoft.com/office/drawing/2014/main" val="4185354449"/>
                    </a:ext>
                  </a:extLst>
                </a:gridCol>
              </a:tblGrid>
              <a:tr h="327838">
                <a:tc gridSpan="4"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HU004- Almacenar o registrar vehiculo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913126"/>
                  </a:ext>
                </a:extLst>
              </a:tr>
              <a:tr h="327838"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Como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Empleado (recepción)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231087"/>
                  </a:ext>
                </a:extLst>
              </a:tr>
              <a:tr h="327838"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Quiero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Registrar información del vehículo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510538"/>
                  </a:ext>
                </a:extLst>
              </a:tr>
              <a:tr h="546398"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Para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LLevar el control de los vehículos asi como el estado en en que se recibe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356943"/>
                  </a:ext>
                </a:extLst>
              </a:tr>
              <a:tr h="327838">
                <a:tc rowSpan="3"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Validación</a:t>
                      </a:r>
                      <a:endParaRPr lang="es-NI" dirty="0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R="6350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 sistema permite guardar la información del vehículo .</a:t>
                      </a:r>
                    </a:p>
                    <a:p>
                      <a:pPr fontAlgn="t"/>
                      <a:br>
                        <a:rPr lang="es-NI">
                          <a:effectLst/>
                        </a:rPr>
                      </a:b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Impacto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711307"/>
                  </a:ext>
                </a:extLst>
              </a:tr>
              <a:tr h="327838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Prioridad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551713"/>
                  </a:ext>
                </a:extLst>
              </a:tr>
              <a:tr h="746619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Estimación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 horas</a:t>
                      </a:r>
                      <a:endParaRPr lang="es-NI" dirty="0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035122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41BCB3A8-8F91-D294-2F2B-B0D7665C9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9866" y="1798092"/>
            <a:ext cx="11079163" cy="463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altLang="es-N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FB4C3DEF-0588-DDB0-4FA1-CC8AF3470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759272"/>
              </p:ext>
            </p:extLst>
          </p:nvPr>
        </p:nvGraphicFramePr>
        <p:xfrm>
          <a:off x="273335" y="1390412"/>
          <a:ext cx="5638800" cy="2834640"/>
        </p:xfrm>
        <a:graphic>
          <a:graphicData uri="http://schemas.openxmlformats.org/drawingml/2006/table">
            <a:tbl>
              <a:tblPr/>
              <a:tblGrid>
                <a:gridCol w="1647825">
                  <a:extLst>
                    <a:ext uri="{9D8B030D-6E8A-4147-A177-3AD203B41FA5}">
                      <a16:colId xmlns:a16="http://schemas.microsoft.com/office/drawing/2014/main" val="3184151810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723202826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44117027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3331263342"/>
                    </a:ext>
                  </a:extLst>
                </a:gridCol>
              </a:tblGrid>
              <a:tr h="180975">
                <a:tc gridSpan="4"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HU001- Registrar  usuarios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0027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Como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Administrador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48337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Quiero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Agregar, asignar rol, actualizar y elimina usuarios y empleados</a:t>
                      </a:r>
                      <a:endParaRPr lang="es-NI">
                        <a:effectLst/>
                      </a:endParaRPr>
                    </a:p>
                    <a:p>
                      <a:pPr fontAlgn="t"/>
                      <a:br>
                        <a:rPr lang="es-NI">
                          <a:effectLst/>
                        </a:rPr>
                      </a:b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0202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Para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Llevar un control de los empleados.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649313"/>
                  </a:ext>
                </a:extLst>
              </a:tr>
              <a:tr h="180975">
                <a:tc rowSpan="3"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Validación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 sistema debe permitir registrar usuarios con el rol de administrador y empleado ( recepción y mecánico).</a:t>
                      </a: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 administrador puede editar, actualizar y eliminar usuarios</a:t>
                      </a: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Impacto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774591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Prioridad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88345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Estimación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 horas</a:t>
                      </a:r>
                      <a:endParaRPr lang="es-NI" dirty="0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886292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671708E3-FABA-67EB-6C9A-F2475983C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35" y="13908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altLang="es-N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728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5E97056C-4EB1-D1E7-6269-2FF9BE9B4050}"/>
              </a:ext>
            </a:extLst>
          </p:cNvPr>
          <p:cNvSpPr/>
          <p:nvPr/>
        </p:nvSpPr>
        <p:spPr>
          <a:xfrm>
            <a:off x="498763" y="124691"/>
            <a:ext cx="2854037" cy="914400"/>
          </a:xfrm>
          <a:prstGeom prst="round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Product  Backlog Priorizado</a:t>
            </a:r>
            <a:endParaRPr lang="es-NI" b="1" i="0" u="none" strike="noStrike" dirty="0">
              <a:solidFill>
                <a:srgbClr val="000000"/>
              </a:solidFill>
              <a:effectLst/>
            </a:endParaRPr>
          </a:p>
          <a:p>
            <a:pPr algn="ctr"/>
            <a:endParaRPr lang="es-NI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FAF53D6-4FF0-AB87-D0CF-A49C220B7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040920"/>
              </p:ext>
            </p:extLst>
          </p:nvPr>
        </p:nvGraphicFramePr>
        <p:xfrm>
          <a:off x="663287" y="1998359"/>
          <a:ext cx="5600700" cy="3811905"/>
        </p:xfrm>
        <a:graphic>
          <a:graphicData uri="http://schemas.openxmlformats.org/drawingml/2006/table">
            <a:tbl>
              <a:tblPr/>
              <a:tblGrid>
                <a:gridCol w="771525">
                  <a:extLst>
                    <a:ext uri="{9D8B030D-6E8A-4147-A177-3AD203B41FA5}">
                      <a16:colId xmlns:a16="http://schemas.microsoft.com/office/drawing/2014/main" val="3402469352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3413733911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937199437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32938433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61558454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140511255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ID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Historia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Prioridad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Impacto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Importancia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Tiempo estimado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49732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HU004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Almacenar datos de Registro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 hrs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98903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HU003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Registrar clientes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 hrs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79812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HU005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Diagnóstico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 hrs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86069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HU002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Generar reporte y garantía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 hrs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84687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HU001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Registrar usuarios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128</a:t>
                      </a:r>
                      <a:endParaRPr lang="es-NI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 hrs</a:t>
                      </a:r>
                      <a:endParaRPr lang="es-NI" dirty="0">
                        <a:effectLst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31612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CFA66C5-7941-3A54-6229-9376C6498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7" y="199851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09142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FBD30C33-59EC-D3CF-CB60-75A6398C4E74}"/>
              </a:ext>
            </a:extLst>
          </p:cNvPr>
          <p:cNvSpPr/>
          <p:nvPr/>
        </p:nvSpPr>
        <p:spPr>
          <a:xfrm>
            <a:off x="317012" y="355477"/>
            <a:ext cx="2673928" cy="91440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Sprint Backlog</a:t>
            </a:r>
            <a:endParaRPr lang="es-NI" b="1" i="0" u="none" strike="noStrike" dirty="0">
              <a:solidFill>
                <a:srgbClr val="000000"/>
              </a:solidFill>
              <a:effectLst/>
            </a:endParaRPr>
          </a:p>
          <a:p>
            <a:pPr algn="ctr"/>
            <a:endParaRPr lang="es-NI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AAED77C-4178-614B-75BC-3E357286A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133943"/>
              </p:ext>
            </p:extLst>
          </p:nvPr>
        </p:nvGraphicFramePr>
        <p:xfrm>
          <a:off x="3338945" y="1953491"/>
          <a:ext cx="3837710" cy="4323563"/>
        </p:xfrm>
        <a:graphic>
          <a:graphicData uri="http://schemas.openxmlformats.org/drawingml/2006/table">
            <a:tbl>
              <a:tblPr/>
              <a:tblGrid>
                <a:gridCol w="526734">
                  <a:extLst>
                    <a:ext uri="{9D8B030D-6E8A-4147-A177-3AD203B41FA5}">
                      <a16:colId xmlns:a16="http://schemas.microsoft.com/office/drawing/2014/main" val="1936919334"/>
                    </a:ext>
                  </a:extLst>
                </a:gridCol>
                <a:gridCol w="750597">
                  <a:extLst>
                    <a:ext uri="{9D8B030D-6E8A-4147-A177-3AD203B41FA5}">
                      <a16:colId xmlns:a16="http://schemas.microsoft.com/office/drawing/2014/main" val="954305411"/>
                    </a:ext>
                  </a:extLst>
                </a:gridCol>
                <a:gridCol w="1441937">
                  <a:extLst>
                    <a:ext uri="{9D8B030D-6E8A-4147-A177-3AD203B41FA5}">
                      <a16:colId xmlns:a16="http://schemas.microsoft.com/office/drawing/2014/main" val="1325007206"/>
                    </a:ext>
                  </a:extLst>
                </a:gridCol>
                <a:gridCol w="513566">
                  <a:extLst>
                    <a:ext uri="{9D8B030D-6E8A-4147-A177-3AD203B41FA5}">
                      <a16:colId xmlns:a16="http://schemas.microsoft.com/office/drawing/2014/main" val="2945836088"/>
                    </a:ext>
                  </a:extLst>
                </a:gridCol>
                <a:gridCol w="604876">
                  <a:extLst>
                    <a:ext uri="{9D8B030D-6E8A-4147-A177-3AD203B41FA5}">
                      <a16:colId xmlns:a16="http://schemas.microsoft.com/office/drawing/2014/main" val="2470303689"/>
                    </a:ext>
                  </a:extLst>
                </a:gridCol>
              </a:tblGrid>
              <a:tr h="433571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NI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ID</a:t>
                      </a:r>
                      <a:endParaRPr lang="es-NI" sz="800" dirty="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NI" sz="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Historia de</a:t>
                      </a:r>
                      <a:endParaRPr lang="es-NI" sz="80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s-NI" sz="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Usuario</a:t>
                      </a:r>
                      <a:endParaRPr lang="es-NI" sz="800">
                        <a:effectLst/>
                      </a:endParaRPr>
                    </a:p>
                    <a:p>
                      <a:pPr fontAlgn="t"/>
                      <a:br>
                        <a:rPr lang="es-NI" sz="800">
                          <a:effectLst/>
                        </a:rPr>
                      </a:b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NI" sz="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Tareas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NI" sz="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Tiempo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NI" sz="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Responsable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405387"/>
                  </a:ext>
                </a:extLst>
              </a:tr>
              <a:tr h="360130">
                <a:tc rowSpan="2"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HU001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Registrar usuarios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700"/>
                        </a:spcBef>
                        <a:buNone/>
                      </a:pPr>
                      <a:r>
                        <a:rPr lang="es-NI" sz="500" b="0" i="0" u="none" strike="noStrike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Crear interfaz de registro</a:t>
                      </a:r>
                      <a:endParaRPr lang="es-NI" sz="800">
                        <a:effectLst/>
                      </a:endParaRPr>
                    </a:p>
                    <a:p>
                      <a:pPr fontAlgn="t"/>
                      <a:br>
                        <a:rPr lang="es-NI" sz="800">
                          <a:effectLst/>
                        </a:rPr>
                      </a:b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 hrs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Jhon Fonseca</a:t>
                      </a:r>
                      <a:endParaRPr lang="es-NI" sz="80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José cuadra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327374"/>
                  </a:ext>
                </a:extLst>
              </a:tr>
              <a:tr h="200516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NI" sz="500" b="0" i="0" u="none" strike="noStrike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Programar lógica de validación de datos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295644"/>
                  </a:ext>
                </a:extLst>
              </a:tr>
              <a:tr h="293011">
                <a:tc rowSpan="4"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HU002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Generar reporte y garantía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NI" sz="500" b="0" i="0" u="none" strike="noStrike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Diseñar interfaz de reportes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NI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 hrs</a:t>
                      </a:r>
                      <a:endParaRPr lang="es-NI" sz="800" dirty="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Jhon Fonseca</a:t>
                      </a:r>
                      <a:endParaRPr lang="es-NI" sz="80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José cuadra</a:t>
                      </a:r>
                      <a:endParaRPr lang="es-NI" sz="800">
                        <a:effectLst/>
                      </a:endParaRPr>
                    </a:p>
                    <a:p>
                      <a:pPr fontAlgn="t"/>
                      <a:br>
                        <a:rPr lang="es-NI" sz="800">
                          <a:effectLst/>
                        </a:rPr>
                      </a:b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540462"/>
                  </a:ext>
                </a:extLst>
              </a:tr>
              <a:tr h="200516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7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NI" sz="500" b="0" i="0" u="none" strike="noStrike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Implementar filtros de búsqueda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276969"/>
                  </a:ext>
                </a:extLst>
              </a:tr>
              <a:tr h="126097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7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NI" sz="500" b="0" i="0" u="none" strike="noStrike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Diseñar template de reporte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68976"/>
                  </a:ext>
                </a:extLst>
              </a:tr>
              <a:tr h="200516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7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NI" sz="500" b="0" i="0" u="none" strike="noStrike" dirty="0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Integrar funcionalidad de impresión</a:t>
                      </a:r>
                      <a:endParaRPr lang="es-NI" sz="800" dirty="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51622"/>
                  </a:ext>
                </a:extLst>
              </a:tr>
              <a:tr h="360130">
                <a:tc rowSpan="3"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HU003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Registrar clientes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700"/>
                        </a:spcBef>
                        <a:buNone/>
                      </a:pPr>
                      <a:r>
                        <a:rPr lang="es-NI" sz="500" b="0" i="0" u="none" strike="noStrike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Diseñar interfaz  de clientes</a:t>
                      </a:r>
                      <a:endParaRPr lang="es-NI" sz="800">
                        <a:effectLst/>
                      </a:endParaRPr>
                    </a:p>
                    <a:p>
                      <a:pPr fontAlgn="t"/>
                      <a:br>
                        <a:rPr lang="es-NI" sz="800">
                          <a:effectLst/>
                        </a:rPr>
                      </a:b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 hrs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Jhon Fonseca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14427"/>
                  </a:ext>
                </a:extLst>
              </a:tr>
              <a:tr h="200516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7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NI" sz="500" b="0" i="0" u="none" strike="noStrike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Desarrollar formulario de registro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314856"/>
                  </a:ext>
                </a:extLst>
              </a:tr>
              <a:tr h="200516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7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NI" sz="500" b="0" i="0" u="none" strike="noStrike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Implementar búsqueda en tiempo real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071684"/>
                  </a:ext>
                </a:extLst>
              </a:tr>
              <a:tr h="126097">
                <a:tc rowSpan="3"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HU004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Almacenar o registrar vehiculos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7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NI" sz="500" b="0" i="0" u="none" strike="noStrike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Diseñar interfaz  de vehículos 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 hrs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Jhon Fonseca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191953"/>
                  </a:ext>
                </a:extLst>
              </a:tr>
              <a:tr h="126097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7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NI" sz="500" b="0" i="0" u="none" strike="noStrike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Crear relación vehículo-cliente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344883"/>
                  </a:ext>
                </a:extLst>
              </a:tr>
              <a:tr h="200516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7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NI" sz="500" b="0" i="0" u="none" strike="noStrike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Desarrollar formulario de registro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670224"/>
                  </a:ext>
                </a:extLst>
              </a:tr>
              <a:tr h="360130">
                <a:tc rowSpan="2"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HU005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63500" marR="63500" algn="just" rtl="0" fontAlgn="t">
                        <a:spcBef>
                          <a:spcPts val="1200"/>
                        </a:spcBef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Diagnóstico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700"/>
                        </a:spcBef>
                        <a:buNone/>
                      </a:pPr>
                      <a:r>
                        <a:rPr lang="es-NI" sz="500" b="0" i="0" u="none" strike="noStrike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Diseñar interfaz de registro</a:t>
                      </a:r>
                      <a:endParaRPr lang="es-NI" sz="800">
                        <a:effectLst/>
                      </a:endParaRPr>
                    </a:p>
                    <a:p>
                      <a:pPr fontAlgn="t"/>
                      <a:br>
                        <a:rPr lang="es-NI" sz="800">
                          <a:effectLst/>
                        </a:rPr>
                      </a:b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 hrs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Jhon Fonseca</a:t>
                      </a:r>
                      <a:endParaRPr lang="es-NI" sz="80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s-NI" sz="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José cuadra</a:t>
                      </a: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4078"/>
                  </a:ext>
                </a:extLst>
              </a:tr>
              <a:tr h="433571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700"/>
                        </a:spcBef>
                        <a:buNone/>
                      </a:pPr>
                      <a:r>
                        <a:rPr lang="es-NI" sz="500" b="0" i="0" u="none" strike="noStrike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Implementar registro de insumos</a:t>
                      </a:r>
                      <a:endParaRPr lang="es-NI" sz="800">
                        <a:effectLst/>
                      </a:endParaRPr>
                    </a:p>
                    <a:p>
                      <a:pPr fontAlgn="t"/>
                      <a:br>
                        <a:rPr lang="es-NI" sz="800">
                          <a:effectLst/>
                        </a:rPr>
                      </a:b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278885"/>
                  </a:ext>
                </a:extLst>
              </a:tr>
              <a:tr h="433571">
                <a:tc>
                  <a:txBody>
                    <a:bodyPr/>
                    <a:lstStyle/>
                    <a:p>
                      <a:pPr fontAlgn="t"/>
                      <a:br>
                        <a:rPr lang="es-NI" sz="800">
                          <a:effectLst/>
                        </a:rPr>
                      </a:b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es-NI" sz="800">
                          <a:effectLst/>
                        </a:rPr>
                      </a:b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700"/>
                        </a:spcBef>
                        <a:buNone/>
                      </a:pPr>
                      <a:r>
                        <a:rPr lang="es-NI" sz="500" b="0" i="0" u="none" strike="noStrike">
                          <a:solidFill>
                            <a:srgbClr val="0F1115"/>
                          </a:solidFill>
                          <a:effectLst/>
                          <a:latin typeface="Times New Roman" panose="02020603050405020304" pitchFamily="18" charset="0"/>
                        </a:rPr>
                        <a:t>Crear vista de historial de diagnósticos</a:t>
                      </a:r>
                      <a:endParaRPr lang="es-NI" sz="800">
                        <a:effectLst/>
                      </a:endParaRPr>
                    </a:p>
                    <a:p>
                      <a:pPr fontAlgn="t"/>
                      <a:br>
                        <a:rPr lang="es-NI" sz="800">
                          <a:effectLst/>
                        </a:rPr>
                      </a:b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es-NI" sz="800">
                          <a:effectLst/>
                        </a:rPr>
                      </a:br>
                      <a:endParaRPr lang="es-NI" sz="80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es-NI" sz="800" dirty="0">
                          <a:effectLst/>
                        </a:rPr>
                      </a:br>
                      <a:endParaRPr lang="es-NI" sz="800" dirty="0">
                        <a:effectLst/>
                      </a:endParaRPr>
                    </a:p>
                  </a:txBody>
                  <a:tcPr marL="26811" marR="26811" marT="26811" marB="268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879641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E637A381-C047-3C58-22C7-B1570C02A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763" y="1793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NI" altLang="es-NI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kumimoji="0" lang="es-NI" altLang="es-N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8365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674</Words>
  <Application>Microsoft Macintosh PowerPoint</Application>
  <PresentationFormat>Panorámica</PresentationFormat>
  <Paragraphs>197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2025-10-18T14:11:59Z</dcterms:created>
  <dcterms:modified xsi:type="dcterms:W3CDTF">2025-10-18T15:11:22Z</dcterms:modified>
</cp:coreProperties>
</file>